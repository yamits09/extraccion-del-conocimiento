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9067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92024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73152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48640"/>
            <a:ext cx="201168" cy="201168"/>
          </a:xfrm>
          <a:prstGeom prst="ellipse">
            <a:avLst/>
          </a:prstGeom>
          <a:solidFill>
            <a:srgbClr val="3E8E9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603504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548640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493776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576072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630936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21440" y="5303520"/>
            <a:ext cx="201168" cy="201168"/>
          </a:xfrm>
          <a:prstGeom prst="ellipse">
            <a:avLst/>
          </a:prstGeom>
          <a:solidFill>
            <a:srgbClr val="F3703A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26080"/>
            <a:ext cx="11612880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509324" y="1303020"/>
            <a:ext cx="7142871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 DE VECTORES DE SOPORTE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22959" y="3017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300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40545" y="3589021"/>
            <a:ext cx="2377440" cy="502920"/>
          </a:xfrm>
          <a:prstGeom prst="rect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840545" y="35753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OBESIAPP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21538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riesgo de obesidad infantil a partir de datos NHANES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749808" y="45582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49808" y="4946903"/>
            <a:ext cx="3479292" cy="9585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MIGUEL ANGEL BRIONES VILLAGRANA</a:t>
            </a:r>
          </a:p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MEDEL DE JESÚS</a:t>
            </a:r>
          </a:p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YAMILETH JIMÉNEZ ASÍS</a:t>
            </a:r>
          </a:p>
          <a:p>
            <a:pPr marL="0" indent="0" algn="just">
              <a:buNone/>
            </a:pPr>
            <a:r>
              <a:rPr lang="en-US" sz="1400" b="1" kern="0" spc="100" dirty="0" smtClean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FLORES POZOS</a:t>
            </a:r>
            <a:endParaRPr 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SVM?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algoritmo de </a:t>
            </a:r>
            <a:r>
              <a:rPr lang="en-US" sz="20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</a:t>
            </a: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usado para clasificación y regresión.
Busca la mejor frontera de decisión (</a:t>
            </a:r>
            <a:r>
              <a:rPr lang="en-US" sz="2000" b="1" dirty="0">
                <a:solidFill>
                  <a:srgbClr val="F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hiperplano</a:t>
            </a: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separe las clases, maximizando el margen entre ellas.
Los puntos más cercanos a esa frontera —los que definen su posición— se llaman </a:t>
            </a:r>
            <a:r>
              <a:rPr lang="en-US" sz="2000" b="1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soporte</a:t>
            </a:r>
            <a:r>
              <a:rPr lang="en-US" sz="20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534924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E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3492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ObesiApp: </a:t>
            </a: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riesgo infantil en bajo, medio o alto usando edad, sexo, peso, estatura e IMC.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37960" y="132588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0B4F5C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 (hiperplano)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-1080000">
            <a:off x="8257032" y="2103120"/>
            <a:ext cx="1261872" cy="3474720"/>
          </a:xfrm>
          <a:prstGeom prst="rect">
            <a:avLst/>
          </a:prstGeom>
          <a:solidFill>
            <a:srgbClr val="12798A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8930030" y="1965960"/>
            <a:ext cx="0" cy="374904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1080000">
            <a:off x="8257032" y="2011680"/>
            <a:ext cx="0" cy="3657600"/>
          </a:xfrm>
          <a:prstGeom prst="line">
            <a:avLst/>
          </a:prstGeom>
          <a:noFill/>
          <a:ln w="15875">
            <a:solidFill>
              <a:srgbClr val="9FD8C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rot="-1080000">
            <a:off x="9603029" y="2011680"/>
            <a:ext cx="0" cy="3657600"/>
          </a:xfrm>
          <a:prstGeom prst="line">
            <a:avLst/>
          </a:prstGeom>
          <a:noFill/>
          <a:ln w="15875">
            <a:solidFill>
              <a:srgbClr val="9FD8CF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086600" y="237744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219456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278892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260604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0" y="315468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3017520"/>
            <a:ext cx="237744" cy="237744"/>
          </a:xfrm>
          <a:prstGeom prst="ellipse">
            <a:avLst/>
          </a:prstGeom>
          <a:solidFill>
            <a:srgbClr val="6FD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2743200"/>
            <a:ext cx="274320" cy="274320"/>
          </a:xfrm>
          <a:prstGeom prst="ellipse">
            <a:avLst/>
          </a:prstGeom>
          <a:solidFill>
            <a:srgbClr val="6FD3C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29016" y="2688336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881360" y="507492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69880" y="530352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470916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0" y="493776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57200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32720" y="4434840"/>
            <a:ext cx="237744" cy="237744"/>
          </a:xfrm>
          <a:prstGeom prst="ellipse">
            <a:avLst/>
          </a:prstGeom>
          <a:solidFill>
            <a:srgbClr val="F370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84080" y="4617720"/>
            <a:ext cx="274320" cy="274320"/>
          </a:xfrm>
          <a:prstGeom prst="ellipse">
            <a:avLst/>
          </a:prstGeom>
          <a:solidFill>
            <a:srgbClr val="F370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29216" y="4562856"/>
            <a:ext cx="384048" cy="384048"/>
          </a:xfrm>
          <a:prstGeom prst="ellipse">
            <a:avLst/>
          </a:prstGeom>
          <a:ln w="15875">
            <a:solidFill>
              <a:srgbClr val="FFFFFF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903720" y="5760720"/>
            <a:ext cx="164592" cy="164592"/>
          </a:xfrm>
          <a:prstGeom prst="ellipse">
            <a:avLst/>
          </a:prstGeom>
          <a:solidFill>
            <a:srgbClr val="6FD3C7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56967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bajo/medio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5760720"/>
            <a:ext cx="164592" cy="164592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56967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61320" y="5760720"/>
            <a:ext cx="164592" cy="164592"/>
          </a:xfrm>
          <a:prstGeom prst="ellipse">
            <a:avLst/>
          </a:prstGeom>
          <a:ln w="15875">
            <a:solidFill>
              <a:srgbClr val="FFFFF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789920" y="56967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soporte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funciona?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algoritmo, paso a paso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60120" y="2487168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00200" y="1737360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74520" y="17922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entrenamiento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1792224"/>
            <a:ext cx="61809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ejemplos ya etiquetados (edad, peso, estatura, IMC, sexo y su nivel de riesgo).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3383280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2633472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3347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600200" y="2633472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74520" y="268833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una frontera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9200" y="2688336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posibles hiperplanos que separen las clases de riesgo.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0120" y="4279392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48640" y="3529584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600200" y="3529584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74520" y="35844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el margen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9200" y="3584448"/>
            <a:ext cx="58732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frontera que deja la mayor distancia posible entre las clases.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5175504"/>
            <a:ext cx="0" cy="292608"/>
          </a:xfrm>
          <a:prstGeom prst="line">
            <a:avLst/>
          </a:prstGeom>
          <a:noFill/>
          <a:ln w="19050">
            <a:solidFill>
              <a:srgbClr val="12798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48640" y="4425696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425696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1600200" y="4425696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874520" y="44805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de soporte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029199" y="4480560"/>
            <a:ext cx="573258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más cercanos al margen son los que definen la posición final de la frontera.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321808"/>
            <a:ext cx="822960" cy="749808"/>
          </a:xfrm>
          <a:prstGeom prst="ellipse">
            <a:avLst/>
          </a:prstGeom>
          <a:solidFill>
            <a:srgbClr val="0B4F5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321808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1600200" y="5321808"/>
            <a:ext cx="1001268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A2F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74520" y="537667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 es necesario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9199" y="5376672"/>
            <a:ext cx="603152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las clases no son separables en línea recta, usa una función kernel (aquí, RBF).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Puntos clave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EEF6F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68680" y="2240280"/>
            <a:ext cx="201168" cy="201168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67655"/>
            <a:ext cx="4358488" cy="346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desempeño en problemas de clasificación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201168" cy="201168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946654"/>
            <a:ext cx="4358488" cy="34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relaciones no lineales mediante kernels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3794760"/>
            <a:ext cx="201168" cy="201168"/>
          </a:xfrm>
          <a:prstGeom prst="ellipse">
            <a:avLst/>
          </a:prstGeom>
          <a:solidFill>
            <a:srgbClr val="12798A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708068"/>
            <a:ext cx="4358488" cy="37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capacidad de generalización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8728" y="1417320"/>
            <a:ext cx="5364328" cy="3246120"/>
          </a:xfrm>
          <a:prstGeom prst="roundRect">
            <a:avLst>
              <a:gd name="adj" fmla="val 2817"/>
            </a:avLst>
          </a:prstGeom>
          <a:solidFill>
            <a:srgbClr val="FBEAE2"/>
          </a:solidFill>
          <a:ln/>
        </p:spPr>
      </p:sp>
      <p:sp>
        <p:nvSpPr>
          <p:cNvPr id="12" name="Text 10"/>
          <p:cNvSpPr/>
          <p:nvPr/>
        </p:nvSpPr>
        <p:spPr>
          <a:xfrm>
            <a:off x="6598768" y="164592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37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98768" y="2240280"/>
            <a:ext cx="201168" cy="201168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4" name="Text 12"/>
          <p:cNvSpPr/>
          <p:nvPr/>
        </p:nvSpPr>
        <p:spPr>
          <a:xfrm>
            <a:off x="6964528" y="2167655"/>
            <a:ext cx="43584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escalamiento previo de los datos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98768" y="3017520"/>
            <a:ext cx="201168" cy="201168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6" name="Text 14"/>
          <p:cNvSpPr/>
          <p:nvPr/>
        </p:nvSpPr>
        <p:spPr>
          <a:xfrm>
            <a:off x="6964528" y="2924673"/>
            <a:ext cx="4358488" cy="3868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 parámetros como C y gamma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98768" y="3794760"/>
            <a:ext cx="201168" cy="201168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6964528" y="3694440"/>
            <a:ext cx="435848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entrega importancia de variables de forma directa (a diferencia de Random Forest)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0B4F5C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8348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D3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 RBF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063240" y="4983480"/>
            <a:ext cx="825977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Utilizado en el modelo de ObesiApp porque permite capturar relaciones no lineales entre IMC, peso, estatura y edad.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4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y resultado en ObesiApp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6FD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REALES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3113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31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 asistido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300837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880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imágenes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78561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856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657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spam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577840" cy="594360"/>
          </a:xfrm>
          <a:prstGeom prst="roundRect">
            <a:avLst>
              <a:gd name="adj" fmla="val 10769"/>
            </a:avLst>
          </a:prstGeom>
          <a:solidFill>
            <a:srgbClr val="0E5F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562856"/>
            <a:ext cx="329184" cy="329184"/>
          </a:xfrm>
          <a:prstGeom prst="ellipse">
            <a:avLst/>
          </a:prstGeom>
          <a:solidFill>
            <a:srgbClr val="F370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434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92240" y="1554480"/>
            <a:ext cx="512064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27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MODELO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2402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B4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93.8%</a:t>
            </a:r>
            <a:endParaRPr lang="en-US" sz="6200" dirty="0"/>
          </a:p>
        </p:txBody>
      </p:sp>
      <p:sp>
        <p:nvSpPr>
          <p:cNvPr id="23" name="Text 21"/>
          <p:cNvSpPr/>
          <p:nvPr/>
        </p:nvSpPr>
        <p:spPr>
          <a:xfrm>
            <a:off x="6858000" y="3337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accuracy en el conjunto de prueba (kernel RBF)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3977640"/>
            <a:ext cx="4389120" cy="0"/>
          </a:xfrm>
          <a:prstGeom prst="line">
            <a:avLst/>
          </a:prstGeom>
          <a:noFill/>
          <a:ln w="12700">
            <a:solidFill>
              <a:srgbClr val="D8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más influyentes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0" y="4526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69680" y="4599432"/>
            <a:ext cx="1737360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28" name="Text 26"/>
          <p:cNvSpPr/>
          <p:nvPr/>
        </p:nvSpPr>
        <p:spPr>
          <a:xfrm>
            <a:off x="10789920" y="45262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weight_kg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869680" y="5056632"/>
            <a:ext cx="837376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0" y="4983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858000" y="5440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869680" y="5513832"/>
            <a:ext cx="637815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34" name="Text 32"/>
          <p:cNvSpPr/>
          <p:nvPr/>
        </p:nvSpPr>
        <p:spPr>
          <a:xfrm>
            <a:off x="10789920" y="5440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0" y="5897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height_cm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869680" y="5971032"/>
            <a:ext cx="281734" cy="201168"/>
          </a:xfrm>
          <a:prstGeom prst="rect">
            <a:avLst/>
          </a:prstGeom>
          <a:solidFill>
            <a:srgbClr val="12798A"/>
          </a:solidFill>
          <a:ln/>
        </p:spPr>
      </p:sp>
      <p:sp>
        <p:nvSpPr>
          <p:cNvPr id="37" name="Text 35"/>
          <p:cNvSpPr/>
          <p:nvPr/>
        </p:nvSpPr>
        <p:spPr>
          <a:xfrm>
            <a:off x="10789920" y="5897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5B7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7.2%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330</Words>
  <Application>Microsoft Office PowerPoint</Application>
  <PresentationFormat>Panorámica</PresentationFormat>
  <Paragraphs>71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100043016</cp:lastModifiedBy>
  <cp:revision>2</cp:revision>
  <dcterms:created xsi:type="dcterms:W3CDTF">2026-07-10T00:25:14Z</dcterms:created>
  <dcterms:modified xsi:type="dcterms:W3CDTF">2026-07-10T00:35:04Z</dcterms:modified>
</cp:coreProperties>
</file>